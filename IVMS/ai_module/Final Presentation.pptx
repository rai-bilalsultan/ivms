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77" r:id="rId7"/>
    <p:sldId id="261" r:id="rId8"/>
    <p:sldId id="262" r:id="rId9"/>
    <p:sldId id="278" r:id="rId10"/>
    <p:sldId id="263" r:id="rId11"/>
    <p:sldId id="264" r:id="rId12"/>
    <p:sldId id="265" r:id="rId13"/>
    <p:sldId id="266" r:id="rId14"/>
    <p:sldId id="279" r:id="rId15"/>
    <p:sldId id="267" r:id="rId16"/>
    <p:sldId id="268" r:id="rId17"/>
    <p:sldId id="274" r:id="rId18"/>
    <p:sldId id="280" r:id="rId19"/>
    <p:sldId id="269" r:id="rId20"/>
    <p:sldId id="275" r:id="rId21"/>
    <p:sldId id="270" r:id="rId22"/>
    <p:sldId id="281" r:id="rId23"/>
    <p:sldId id="276" r:id="rId24"/>
    <p:sldId id="271" r:id="rId25"/>
    <p:sldId id="272" r:id="rId26"/>
    <p:sldId id="273" r:id="rId27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j2AY3DNheaNSztFqwRHhpggp8V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50281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8217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1861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4382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4038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3203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2678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8849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4386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0325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1275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1633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481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3465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8806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2656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1278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4384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29888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2372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6929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 Year Project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63500" lvl="0" indent="0">
              <a:spcBef>
                <a:spcPts val="280"/>
              </a:spcBef>
              <a:buSzPts val="1400"/>
            </a:pPr>
            <a:r>
              <a:rPr lang="en-US" b="1" dirty="0">
                <a:solidFill>
                  <a:schemeClr val="tx1"/>
                </a:solidFill>
              </a:rPr>
              <a:t>Intelligent Vehicle Monitoring System Using Automatic Number Plate Recognition</a:t>
            </a:r>
          </a:p>
          <a:p>
            <a:pPr marL="63500" lvl="0" indent="0">
              <a:spcBef>
                <a:spcPts val="280"/>
              </a:spcBef>
              <a:buSzPts val="1400"/>
            </a:pPr>
            <a:endParaRPr lang="en-US" b="1" dirty="0">
              <a:solidFill>
                <a:schemeClr val="tx1"/>
              </a:solidFill>
            </a:endParaRPr>
          </a:p>
          <a:p>
            <a:pPr marL="63500" lvl="0" indent="0">
              <a:spcBef>
                <a:spcPts val="280"/>
              </a:spcBef>
              <a:buSzPts val="1400"/>
            </a:pPr>
            <a:r>
              <a:rPr lang="en-US" b="1" dirty="0">
                <a:solidFill>
                  <a:schemeClr val="tx1"/>
                </a:solidFill>
              </a:rPr>
              <a:t>Supervised By: </a:t>
            </a:r>
          </a:p>
          <a:p>
            <a:pPr marL="63500" lvl="0" indent="0">
              <a:spcBef>
                <a:spcPts val="280"/>
              </a:spcBef>
              <a:buSzPts val="1400"/>
            </a:pPr>
            <a:r>
              <a:rPr lang="en-US" b="1" dirty="0">
                <a:solidFill>
                  <a:schemeClr val="tx1"/>
                </a:solidFill>
              </a:rPr>
              <a:t>Muhammad Imran Khan</a:t>
            </a:r>
          </a:p>
          <a:p>
            <a:pPr marL="6350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endParaRPr dirty="0"/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>
              <a:spcBef>
                <a:spcPts val="0"/>
              </a:spcBef>
              <a:buSzPts val="3200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Zohaib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(30398)</a:t>
            </a:r>
          </a:p>
          <a:p>
            <a:pPr marL="342900">
              <a:spcBef>
                <a:spcPts val="0"/>
              </a:spcBef>
              <a:buSzPts val="3200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Gozel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 Khan (11788)</a:t>
            </a:r>
          </a:p>
          <a:p>
            <a:pPr marL="342900">
              <a:spcBef>
                <a:spcPts val="0"/>
              </a:spcBef>
              <a:buSzPts val="3200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Bilal Sultan (48402)</a:t>
            </a: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Background and Introduction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Literature Review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Problem Statement</a:t>
            </a:r>
            <a:endParaRPr lang="en-US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Project Scope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Proposed Solution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Requirements Summary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Design Summary</a:t>
            </a:r>
            <a:endParaRPr dirty="0"/>
          </a:p>
          <a:p>
            <a:pPr marL="742950" lvl="1" indent="-285750">
              <a:spcBef>
                <a:spcPts val="400"/>
              </a:spcBef>
              <a:buSzPts val="2000"/>
            </a:pPr>
            <a:r>
              <a:rPr lang="en-US" sz="2000" dirty="0"/>
              <a:t>Methodology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Implementation Summary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Experiments and Results Summary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Testing Summary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Conclusion and Outlook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 AND INTRODUCTION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 and Introduction</a:t>
            </a: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increase in the number of vehicles has created serious challenges in traffic management and public safety.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 enforcement agencies still rely heavily on manual vehicle monitoring, which is slow, inefficient, and prone to human error.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activities such as vehicle theft, illegal movement, and traffic violations are increasing day by day.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stolen or suspicious vehicles in real time has become a critical need for modern smart cities.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Number Plate Recognition (ANPR) systems provide a promising solution by using Artificial Intelligence and Computer Vision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ANPR systems mainly focus on recognizing number plates but lack enforcement and intelligence.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do not integrate with police or crime databases.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Absence of real-time alerts limits their effectiveness for law enforcement agencies.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 of vehicle records delays decision-making and response time.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advancements in AI, deep learning, and OCR technologies, it is now possible to build intelligent systems for automated vehicle monitoring and real-time alert generation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119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Literature Review and Summary Table [1/2]</a:t>
            </a:r>
            <a:endParaRPr dirty="0"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013020"/>
              </p:ext>
            </p:extLst>
          </p:nvPr>
        </p:nvGraphicFramePr>
        <p:xfrm>
          <a:off x="314632" y="1523999"/>
          <a:ext cx="8372169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054"/>
                <a:gridCol w="1861564"/>
                <a:gridCol w="1198809"/>
                <a:gridCol w="1198809"/>
                <a:gridCol w="1198809"/>
                <a:gridCol w="1198809"/>
                <a:gridCol w="1179315"/>
              </a:tblGrid>
              <a:tr h="68279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/ Reference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Challenges Addressed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Work / Limitations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Our Proposed IVMS</a:t>
                      </a:r>
                    </a:p>
                  </a:txBody>
                  <a:tcPr anchor="ctr"/>
                </a:tc>
              </a:tr>
              <a:tr h="128023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Anagnostopoulos et al., 2008 (ANPR Survey)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Image processing + OCR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Automatic vehicle identification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Reliable plate recognition in controlled environments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Poor performance in bad weather &amp; low 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YOLOv11 for robust detection in real-world conditions</a:t>
                      </a:r>
                    </a:p>
                  </a:txBody>
                  <a:tcPr anchor="ctr"/>
                </a:tc>
              </a:tr>
              <a:tr h="881936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Silva et al., 2018 (Vehicle Detection using CNNs)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CNN-based object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Vehicle and plate localization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Improved detection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computational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Optimized YOLOv11 for real-time detection</a:t>
                      </a:r>
                    </a:p>
                  </a:txBody>
                  <a:tcPr anchor="ctr"/>
                </a:tc>
              </a:tr>
              <a:tr h="1081083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OpenALPR System (Commercial)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Proprietary AI-based ANPR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Large-scale vehicle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 accuracy in developed regions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Expensive, closed-source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Open-source, low-cost academic solution</a:t>
                      </a:r>
                    </a:p>
                  </a:txBody>
                  <a:tcPr anchor="ctr"/>
                </a:tc>
              </a:tr>
              <a:tr h="881936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a-DK"/>
                        <a:t>Khan et al., 2020 (Pakistan Traffic Monitoring)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Manual + semi-automated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Traffic law enforcement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Partial automation achieved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 real-time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alerts with database verification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Literature Review and Summary Table [2/2]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256164"/>
              </p:ext>
            </p:extLst>
          </p:nvPr>
        </p:nvGraphicFramePr>
        <p:xfrm>
          <a:off x="457200" y="1514168"/>
          <a:ext cx="8229599" cy="496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677"/>
                <a:gridCol w="1681317"/>
                <a:gridCol w="1181977"/>
                <a:gridCol w="1175657"/>
                <a:gridCol w="1175657"/>
                <a:gridCol w="1175657"/>
                <a:gridCol w="1175657"/>
              </a:tblGrid>
              <a:tr h="768819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/ Reference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Challenges Addressed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Future Work / Limitations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Our Proposed IVMS</a:t>
                      </a:r>
                    </a:p>
                  </a:txBody>
                  <a:tcPr anchor="ctr"/>
                </a:tc>
              </a:tr>
              <a:tr h="768819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Tesseract</a:t>
                      </a:r>
                      <a:r>
                        <a:rPr lang="en-US" dirty="0"/>
                        <a:t> OCR Based ANPR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Traditional OCR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Plate character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Works for clean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Fails under noise &amp; angle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Hybrid OCR (EasyOCR + Tesseract)</a:t>
                      </a:r>
                    </a:p>
                  </a:txBody>
                  <a:tcPr anchor="ctr"/>
                </a:tc>
              </a:tr>
              <a:tr h="1217297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 City Surveillance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CCTV-based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Urban vehicle surveillance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Crime monitoring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</a:t>
                      </a:r>
                      <a:r>
                        <a:rPr lang="en-US" dirty="0" smtClean="0"/>
                        <a:t>analysis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Route </a:t>
                      </a:r>
                      <a:r>
                        <a:rPr lang="en-US" dirty="0" smtClean="0"/>
                        <a:t>suggestion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using </a:t>
                      </a:r>
                      <a:r>
                        <a:rPr lang="en-US" dirty="0"/>
                        <a:t>Google Maps API</a:t>
                      </a:r>
                    </a:p>
                  </a:txBody>
                  <a:tcPr anchor="ctr"/>
                </a:tc>
              </a:tr>
              <a:tr h="993058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Existing Police Databases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Static stolen vehicle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Vehicle record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Manual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live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Dual DB + live police records</a:t>
                      </a:r>
                    </a:p>
                  </a:txBody>
                  <a:tcPr anchor="ctr"/>
                </a:tc>
              </a:tr>
              <a:tr h="1217297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Rule-Based Alert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Threshold-based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Crime notification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Basic alert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Multi-channel alerts (Email + Dashboard)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766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28" name="Google Shape;128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03200" lvl="0" indent="0" algn="just">
              <a:spcBef>
                <a:spcPts val="0"/>
              </a:spcBef>
              <a:buSzPts val="3200"/>
              <a:buNone/>
            </a:pPr>
            <a:r>
              <a:rPr lang="en-US" sz="2800" dirty="0"/>
              <a:t>“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vehicle theft and traffic crimes outpace manual monitoring. Current ANPR systems lack real-time alerts, police database integration, and suggestion tracking. A smarter, automated solution is urgently needed for effective law enforcement and public safety”.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ENDEAVOUR</a:t>
            </a:r>
            <a:endParaRPr dirty="0"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-491613"/>
            <a:ext cx="8229600" cy="190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Endeavour</a:t>
            </a:r>
            <a:endParaRPr dirty="0"/>
          </a:p>
        </p:txBody>
      </p:sp>
      <p:sp>
        <p:nvSpPr>
          <p:cNvPr id="146" name="Google Shape;146;p11"/>
          <p:cNvSpPr txBox="1">
            <a:spLocks noGrp="1"/>
          </p:cNvSpPr>
          <p:nvPr>
            <p:ph type="body" idx="1"/>
          </p:nvPr>
        </p:nvSpPr>
        <p:spPr>
          <a:xfrm>
            <a:off x="457200" y="806244"/>
            <a:ext cx="7890387" cy="5319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Gozel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 Khan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Focused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backend development for IVMS. Implemented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server, designed database, developed REST APIs for vehicle verification and alert management, and connected backend with frontend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Rai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Bilal Sultan: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Focused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frontend development and UI design. Created the React web dashboard and Flutter mobile screens, and managed API integration.</a:t>
            </a:r>
          </a:p>
          <a:p>
            <a:pPr>
              <a:lnSpc>
                <a:spcPct val="150000"/>
              </a:lnSpc>
            </a:pP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Zohaib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Abbasi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Worked on frontend and mobile app development, assisted in React and Flutter UI, API integration, and contributed to the AI module for vehicle detection and tracking.</a:t>
            </a: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spcBef>
                <a:spcPts val="638"/>
              </a:spcBef>
              <a:spcAft>
                <a:spcPct val="0"/>
              </a:spcAft>
              <a:buClr>
                <a:srgbClr val="000000"/>
              </a:buClr>
              <a:buSzPts val="3200"/>
              <a:buNone/>
            </a:pPr>
            <a:r>
              <a:rPr lang="en-US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 panose="020F0502020204030204" pitchFamily="34" charset="0"/>
              </a:rPr>
              <a:t>Way of Working as a Team</a:t>
            </a:r>
          </a:p>
          <a:p>
            <a:pPr marL="342900">
              <a:lnSpc>
                <a:spcPct val="150000"/>
              </a:lnSpc>
              <a:spcBef>
                <a:spcPts val="638"/>
              </a:spcBef>
              <a:spcAft>
                <a:spcPct val="0"/>
              </a:spcAft>
              <a:buClr>
                <a:srgbClr val="000000"/>
              </a:buClr>
              <a:buSzPts val="3200"/>
            </a:pPr>
            <a:r>
              <a:rPr lang="en-US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 panose="020F0502020204030204" pitchFamily="34" charset="0"/>
              </a:rPr>
              <a:t>Problem Solving:</a:t>
            </a:r>
          </a:p>
          <a:p>
            <a:pPr marL="0" indent="0">
              <a:lnSpc>
                <a:spcPct val="150000"/>
              </a:lnSpc>
              <a:spcBef>
                <a:spcPts val="638"/>
              </a:spcBef>
              <a:spcAft>
                <a:spcPct val="0"/>
              </a:spcAft>
              <a:buClr>
                <a:srgbClr val="000000"/>
              </a:buClr>
              <a:buSzPts val="3200"/>
              <a:buNone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 panose="020F0502020204030204" pitchFamily="34" charset="0"/>
              </a:rPr>
              <a:t>Brainstormed solutions for challenges, such as dataset limitations and performance optimization.</a:t>
            </a:r>
          </a:p>
          <a:p>
            <a:pPr marL="0" indent="0">
              <a:lnSpc>
                <a:spcPct val="150000"/>
              </a:lnSpc>
              <a:spcBef>
                <a:spcPts val="638"/>
              </a:spcBef>
              <a:spcAft>
                <a:spcPct val="0"/>
              </a:spcAft>
              <a:buClr>
                <a:srgbClr val="000000"/>
              </a:buClr>
              <a:buSzPts val="3200"/>
              <a:buNone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 panose="020F0502020204030204" pitchFamily="34" charset="0"/>
              </a:rPr>
              <a:t>Worked together on debugging and enhancing system reliability.</a:t>
            </a:r>
          </a:p>
          <a:p>
            <a:pPr marL="342900">
              <a:lnSpc>
                <a:spcPct val="150000"/>
              </a:lnSpc>
              <a:spcBef>
                <a:spcPts val="638"/>
              </a:spcBef>
              <a:spcAft>
                <a:spcPct val="0"/>
              </a:spcAft>
              <a:buClr>
                <a:srgbClr val="000000"/>
              </a:buClr>
              <a:buSzPts val="3200"/>
            </a:pPr>
            <a:r>
              <a:rPr lang="en-US" altLang="en-US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 panose="020F0502020204030204" pitchFamily="34" charset="0"/>
              </a:rPr>
              <a:t>Documentation and Knowledge Sharing:</a:t>
            </a:r>
          </a:p>
          <a:p>
            <a:pPr marL="0" indent="0">
              <a:lnSpc>
                <a:spcPct val="150000"/>
              </a:lnSpc>
              <a:spcBef>
                <a:spcPts val="638"/>
              </a:spcBef>
              <a:spcAft>
                <a:spcPct val="0"/>
              </a:spcAft>
              <a:buClr>
                <a:srgbClr val="000000"/>
              </a:buClr>
              <a:buSzPts val="3200"/>
              <a:buNone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 panose="020F0502020204030204" pitchFamily="34" charset="0"/>
              </a:rPr>
              <a:t>Maintained detailed documentation of the development process.</a:t>
            </a:r>
          </a:p>
          <a:p>
            <a:pPr marL="0" indent="0">
              <a:lnSpc>
                <a:spcPct val="150000"/>
              </a:lnSpc>
              <a:spcBef>
                <a:spcPts val="638"/>
              </a:spcBef>
              <a:spcAft>
                <a:spcPct val="0"/>
              </a:spcAft>
              <a:buClr>
                <a:srgbClr val="000000"/>
              </a:buClr>
              <a:buSzPts val="3200"/>
              <a:buNone/>
            </a:pPr>
            <a:r>
              <a:rPr lang="en-US" alt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 panose="020F0502020204030204" pitchFamily="34" charset="0"/>
              </a:rPr>
              <a:t>Shared insights and learning to ensure alignment on project </a:t>
            </a:r>
            <a:r>
              <a:rPr lang="en-US" altLang="en-US" sz="1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Calibri" panose="020F0502020204030204" pitchFamily="34" charset="0"/>
              </a:rPr>
              <a:t>goals.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12605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152" name="Google Shape;152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373626" y="1189704"/>
            <a:ext cx="8239432" cy="472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lnSpc>
                <a:spcPct val="150000"/>
              </a:lnSpc>
            </a:pPr>
            <a:r>
              <a:rPr lang="en-GB" sz="1600" dirty="0">
                <a:latin typeface="Times New Roman" panose="02020603050405020304" pitchFamily="18" charset="0"/>
              </a:rPr>
              <a:t>YOLOv11 real-time vehicle and plate detection from live camera feeds or uploaded images</a:t>
            </a:r>
          </a:p>
          <a:p>
            <a:pPr marL="342900">
              <a:lnSpc>
                <a:spcPct val="150000"/>
              </a:lnSpc>
            </a:pPr>
            <a:r>
              <a:rPr lang="en-GB" sz="1600" dirty="0">
                <a:latin typeface="Times New Roman" panose="02020603050405020304" pitchFamily="18" charset="0"/>
              </a:rPr>
              <a:t>Hybrid OCR pipeline (</a:t>
            </a:r>
            <a:r>
              <a:rPr lang="en-GB" sz="1600" dirty="0" err="1">
                <a:latin typeface="Times New Roman" panose="02020603050405020304" pitchFamily="18" charset="0"/>
              </a:rPr>
              <a:t>EasyOCR</a:t>
            </a:r>
            <a:r>
              <a:rPr lang="en-GB" sz="1600" dirty="0">
                <a:latin typeface="Times New Roman" panose="02020603050405020304" pitchFamily="18" charset="0"/>
              </a:rPr>
              <a:t> + </a:t>
            </a:r>
            <a:r>
              <a:rPr lang="en-GB" sz="1600" dirty="0" err="1">
                <a:latin typeface="Times New Roman" panose="02020603050405020304" pitchFamily="18" charset="0"/>
              </a:rPr>
              <a:t>Tesseract</a:t>
            </a:r>
            <a:r>
              <a:rPr lang="en-GB" sz="1600" dirty="0">
                <a:latin typeface="Times New Roman" panose="02020603050405020304" pitchFamily="18" charset="0"/>
              </a:rPr>
              <a:t>) for robust plate text recognition across varied conditions</a:t>
            </a:r>
          </a:p>
          <a:p>
            <a:pPr marL="342900">
              <a:lnSpc>
                <a:spcPct val="150000"/>
              </a:lnSpc>
            </a:pPr>
            <a:r>
              <a:rPr lang="en-GB" sz="1600" dirty="0">
                <a:latin typeface="Times New Roman" panose="02020603050405020304" pitchFamily="18" charset="0"/>
              </a:rPr>
              <a:t>Automated database verification: plates matched against centralized stolen vehicle complaint database</a:t>
            </a:r>
          </a:p>
          <a:p>
            <a:pPr marL="342900">
              <a:lnSpc>
                <a:spcPct val="150000"/>
              </a:lnSpc>
            </a:pPr>
            <a:r>
              <a:rPr lang="en-GB" sz="1600" dirty="0">
                <a:latin typeface="Times New Roman" panose="02020603050405020304" pitchFamily="18" charset="0"/>
              </a:rPr>
              <a:t>Multi-channel real-time alerts via </a:t>
            </a:r>
            <a:r>
              <a:rPr lang="en-GB" sz="1600" dirty="0" err="1">
                <a:latin typeface="Times New Roman" panose="02020603050405020304" pitchFamily="18" charset="0"/>
              </a:rPr>
              <a:t>WebSocket</a:t>
            </a:r>
            <a:r>
              <a:rPr lang="en-GB" sz="1600" dirty="0">
                <a:latin typeface="Times New Roman" panose="02020603050405020304" pitchFamily="18" charset="0"/>
              </a:rPr>
              <a:t> push notifications, HTML email, and mobile app</a:t>
            </a:r>
          </a:p>
          <a:p>
            <a:pPr marL="342900">
              <a:lnSpc>
                <a:spcPct val="150000"/>
              </a:lnSpc>
            </a:pPr>
            <a:r>
              <a:rPr lang="en-GB" sz="1600" dirty="0">
                <a:latin typeface="Times New Roman" panose="02020603050405020304" pitchFamily="18" charset="0"/>
              </a:rPr>
              <a:t>JWT-secured </a:t>
            </a:r>
            <a:r>
              <a:rPr lang="en-GB" sz="1600" dirty="0" err="1">
                <a:latin typeface="Times New Roman" panose="02020603050405020304" pitchFamily="18" charset="0"/>
              </a:rPr>
              <a:t>Django</a:t>
            </a:r>
            <a:r>
              <a:rPr lang="en-GB" sz="1600" dirty="0">
                <a:latin typeface="Times New Roman" panose="02020603050405020304" pitchFamily="18" charset="0"/>
              </a:rPr>
              <a:t> 4.2+ REST API backend with role-based access (User / Admin)</a:t>
            </a:r>
          </a:p>
          <a:p>
            <a:pPr marL="342900">
              <a:lnSpc>
                <a:spcPct val="150000"/>
              </a:lnSpc>
            </a:pPr>
            <a:r>
              <a:rPr lang="en-GB" sz="1600" dirty="0">
                <a:latin typeface="Times New Roman" panose="02020603050405020304" pitchFamily="18" charset="0"/>
              </a:rPr>
              <a:t>React.js web dashboard for live monitoring, complaint management, and admin controls</a:t>
            </a:r>
          </a:p>
          <a:p>
            <a:pPr marL="342900">
              <a:lnSpc>
                <a:spcPct val="150000"/>
              </a:lnSpc>
            </a:pPr>
            <a:r>
              <a:rPr lang="en-GB" sz="1600" dirty="0">
                <a:latin typeface="Times New Roman" panose="02020603050405020304" pitchFamily="18" charset="0"/>
              </a:rPr>
              <a:t>Flutter mobile app (Track Vision) for field scanning, alert viewing, and complaint submission</a:t>
            </a:r>
          </a:p>
          <a:p>
            <a:pPr marL="342900">
              <a:lnSpc>
                <a:spcPct val="150000"/>
              </a:lnSpc>
            </a:pPr>
            <a:r>
              <a:rPr lang="en-GB" sz="1600" dirty="0">
                <a:latin typeface="Times New Roman" panose="02020603050405020304" pitchFamily="18" charset="0"/>
              </a:rPr>
              <a:t>Open-source and cost-effective — suitable for academic research and smart city deployment</a:t>
            </a:r>
            <a:endParaRPr lang="en-GB" sz="1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Requirements </a:t>
            </a:r>
            <a:r>
              <a:rPr lang="en-US" dirty="0" smtClean="0"/>
              <a:t>Summary[1/2]</a:t>
            </a:r>
            <a:endParaRPr dirty="0"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vehicle images through cameras or live video feed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vehicle number plates using AI-based techniques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license plate characters using OCR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vehicle numbers against the database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alerts for stolen or suspicious vehicles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user login for authorized personnel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logs of detections and generated alerts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629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Summary[1/2]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vehicle detection and verification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recognition accuracy under varying conditions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Ability to support multiple cameras and users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operation with minimal system downtime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212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Design Summary</a:t>
            </a:r>
            <a:endParaRPr/>
          </a:p>
        </p:txBody>
      </p:sp>
      <p:sp>
        <p:nvSpPr>
          <p:cNvPr id="164" name="Google Shape;164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GB" sz="1800" b="1" dirty="0">
                <a:latin typeface="Times New Roman" panose="02020603050405020304" pitchFamily="18" charset="0"/>
              </a:rPr>
              <a:t>Three-Layer System Architecture</a:t>
            </a:r>
          </a:p>
          <a:p>
            <a:pPr marL="342900"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</a:rPr>
              <a:t>Presentation Layer: Flutter mobile app (scan, complaints, alerts) + React.js web dashboard (admin, live updates)</a:t>
            </a:r>
          </a:p>
          <a:p>
            <a:pPr marL="342900"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</a:rPr>
              <a:t>Application Layer: </a:t>
            </a:r>
            <a:r>
              <a:rPr lang="en-GB" sz="1800" dirty="0" err="1">
                <a:latin typeface="Times New Roman" panose="02020603050405020304" pitchFamily="18" charset="0"/>
              </a:rPr>
              <a:t>Django</a:t>
            </a:r>
            <a:r>
              <a:rPr lang="en-GB" sz="1800" dirty="0">
                <a:latin typeface="Times New Roman" panose="02020603050405020304" pitchFamily="18" charset="0"/>
              </a:rPr>
              <a:t> REST API + </a:t>
            </a:r>
            <a:r>
              <a:rPr lang="en-GB" sz="1800" dirty="0" err="1">
                <a:latin typeface="Times New Roman" panose="02020603050405020304" pitchFamily="18" charset="0"/>
              </a:rPr>
              <a:t>Django</a:t>
            </a:r>
            <a:r>
              <a:rPr lang="en-GB" sz="1800" dirty="0">
                <a:latin typeface="Times New Roman" panose="02020603050405020304" pitchFamily="18" charset="0"/>
              </a:rPr>
              <a:t> Channels </a:t>
            </a:r>
            <a:r>
              <a:rPr lang="en-GB" sz="1800" dirty="0" err="1">
                <a:latin typeface="Times New Roman" panose="02020603050405020304" pitchFamily="18" charset="0"/>
              </a:rPr>
              <a:t>WebSocket</a:t>
            </a:r>
            <a:r>
              <a:rPr lang="en-GB" sz="1800" dirty="0">
                <a:latin typeface="Times New Roman" panose="02020603050405020304" pitchFamily="18" charset="0"/>
              </a:rPr>
              <a:t> server + YOLOv11 + </a:t>
            </a:r>
            <a:r>
              <a:rPr lang="en-GB" sz="1800" dirty="0" err="1">
                <a:latin typeface="Times New Roman" panose="02020603050405020304" pitchFamily="18" charset="0"/>
              </a:rPr>
              <a:t>EasyOCR</a:t>
            </a:r>
            <a:r>
              <a:rPr lang="en-GB" sz="1800" dirty="0">
                <a:latin typeface="Times New Roman" panose="02020603050405020304" pitchFamily="18" charset="0"/>
              </a:rPr>
              <a:t>/</a:t>
            </a:r>
            <a:r>
              <a:rPr lang="en-GB" sz="1800" dirty="0" err="1">
                <a:latin typeface="Times New Roman" panose="02020603050405020304" pitchFamily="18" charset="0"/>
              </a:rPr>
              <a:t>Tesseract</a:t>
            </a:r>
            <a:r>
              <a:rPr lang="en-GB" sz="1800" dirty="0">
                <a:latin typeface="Times New Roman" panose="02020603050405020304" pitchFamily="18" charset="0"/>
              </a:rPr>
              <a:t> AI module</a:t>
            </a:r>
          </a:p>
          <a:p>
            <a:pPr marL="342900"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</a:rPr>
              <a:t>Data Layer: MySQL/</a:t>
            </a:r>
            <a:r>
              <a:rPr lang="en-GB" sz="1800" dirty="0" err="1">
                <a:latin typeface="Times New Roman" panose="02020603050405020304" pitchFamily="18" charset="0"/>
              </a:rPr>
              <a:t>PostgreSQL</a:t>
            </a:r>
            <a:r>
              <a:rPr lang="en-GB" sz="1800" dirty="0">
                <a:latin typeface="Times New Roman" panose="02020603050405020304" pitchFamily="18" charset="0"/>
              </a:rPr>
              <a:t> (users, complaints, detections, alerts) + </a:t>
            </a:r>
            <a:r>
              <a:rPr lang="en-GB" sz="1800" dirty="0" err="1">
                <a:latin typeface="Times New Roman" panose="02020603050405020304" pitchFamily="18" charset="0"/>
              </a:rPr>
              <a:t>Redis</a:t>
            </a:r>
            <a:r>
              <a:rPr lang="en-GB" sz="1800" dirty="0">
                <a:latin typeface="Times New Roman" panose="02020603050405020304" pitchFamily="18" charset="0"/>
              </a:rPr>
              <a:t> cache (</a:t>
            </a:r>
            <a:r>
              <a:rPr lang="en-GB" sz="1800" dirty="0" err="1">
                <a:latin typeface="Times New Roman" panose="02020603050405020304" pitchFamily="18" charset="0"/>
              </a:rPr>
              <a:t>WebSocket</a:t>
            </a:r>
            <a:r>
              <a:rPr lang="en-GB" sz="1800" dirty="0">
                <a:latin typeface="Times New Roman" panose="02020603050405020304" pitchFamily="18" charset="0"/>
              </a:rPr>
              <a:t>) + File storage (images)</a:t>
            </a:r>
            <a:endParaRPr lang="en-GB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</a:t>
            </a:r>
            <a:endParaRPr dirty="0"/>
          </a:p>
        </p:txBody>
      </p:sp>
      <p:sp>
        <p:nvSpPr>
          <p:cNvPr id="164" name="Google Shape;164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&lt;Add diagram according to your project domain i.e., Methodology diagram (AI, IOT </a:t>
            </a:r>
            <a:r>
              <a:rPr lang="en-US" dirty="0" err="1"/>
              <a:t>etc</a:t>
            </a:r>
            <a:r>
              <a:rPr lang="en-US" dirty="0"/>
              <a:t>) OR Flow chart (Data Structures, Algorithms </a:t>
            </a:r>
            <a:r>
              <a:rPr lang="en-US" dirty="0" err="1"/>
              <a:t>etc</a:t>
            </a:r>
            <a:r>
              <a:rPr lang="en-US" dirty="0"/>
              <a:t>)&gt;</a:t>
            </a:r>
          </a:p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/>
              <a:t>&lt;Also explain all steps in bullet points&gt;</a:t>
            </a:r>
          </a:p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7336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Implementation </a:t>
            </a:r>
            <a:r>
              <a:rPr lang="en-US" dirty="0" smtClean="0"/>
              <a:t>Summary[1/2]</a:t>
            </a:r>
            <a:endParaRPr dirty="0"/>
          </a:p>
        </p:txBody>
      </p:sp>
      <p:sp>
        <p:nvSpPr>
          <p:cNvPr id="170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70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GB" sz="1800" b="1" dirty="0">
                <a:latin typeface="Times New Roman" panose="02020603050405020304" pitchFamily="18" charset="0"/>
              </a:rPr>
              <a:t>Backend</a:t>
            </a:r>
          </a:p>
          <a:p>
            <a:pPr marL="342900">
              <a:lnSpc>
                <a:spcPct val="150000"/>
              </a:lnSpc>
            </a:pPr>
            <a:r>
              <a:rPr lang="en-GB" sz="1800" dirty="0" err="1">
                <a:latin typeface="Times New Roman" panose="02020603050405020304" pitchFamily="18" charset="0"/>
              </a:rPr>
              <a:t>Django</a:t>
            </a:r>
            <a:r>
              <a:rPr lang="en-GB" sz="1800" dirty="0">
                <a:latin typeface="Times New Roman" panose="02020603050405020304" pitchFamily="18" charset="0"/>
              </a:rPr>
              <a:t> 4.2 + DRF: REST API, authentication, CRUD operations; Daphne ASGI server</a:t>
            </a:r>
          </a:p>
          <a:p>
            <a:pPr marL="342900">
              <a:lnSpc>
                <a:spcPct val="150000"/>
              </a:lnSpc>
            </a:pPr>
            <a:r>
              <a:rPr lang="en-GB" sz="1800" dirty="0" err="1">
                <a:latin typeface="Times New Roman" panose="02020603050405020304" pitchFamily="18" charset="0"/>
              </a:rPr>
              <a:t>Django</a:t>
            </a:r>
            <a:r>
              <a:rPr lang="en-GB" sz="1800" dirty="0">
                <a:latin typeface="Times New Roman" panose="02020603050405020304" pitchFamily="18" charset="0"/>
              </a:rPr>
              <a:t> Channels + </a:t>
            </a:r>
            <a:r>
              <a:rPr lang="en-GB" sz="1800" dirty="0" err="1">
                <a:latin typeface="Times New Roman" panose="02020603050405020304" pitchFamily="18" charset="0"/>
              </a:rPr>
              <a:t>Redis</a:t>
            </a:r>
            <a:r>
              <a:rPr lang="en-GB" sz="1800" dirty="0">
                <a:latin typeface="Times New Roman" panose="02020603050405020304" pitchFamily="18" charset="0"/>
              </a:rPr>
              <a:t>: </a:t>
            </a:r>
            <a:r>
              <a:rPr lang="en-GB" sz="1800" dirty="0" err="1">
                <a:latin typeface="Times New Roman" panose="02020603050405020304" pitchFamily="18" charset="0"/>
              </a:rPr>
              <a:t>WebSocket</a:t>
            </a:r>
            <a:r>
              <a:rPr lang="en-GB" sz="1800" dirty="0">
                <a:latin typeface="Times New Roman" panose="02020603050405020304" pitchFamily="18" charset="0"/>
              </a:rPr>
              <a:t> server for real-time alert push delivery</a:t>
            </a:r>
          </a:p>
          <a:p>
            <a:pPr marL="342900"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</a:rPr>
              <a:t>Simple JWT + </a:t>
            </a:r>
            <a:r>
              <a:rPr lang="en-GB" sz="1800" dirty="0" err="1">
                <a:latin typeface="Times New Roman" panose="02020603050405020304" pitchFamily="18" charset="0"/>
              </a:rPr>
              <a:t>bcrypt</a:t>
            </a:r>
            <a:r>
              <a:rPr lang="en-GB" sz="1800" dirty="0">
                <a:latin typeface="Times New Roman" panose="02020603050405020304" pitchFamily="18" charset="0"/>
              </a:rPr>
              <a:t>: Secure token-based </a:t>
            </a:r>
            <a:r>
              <a:rPr lang="en-GB" sz="1800" dirty="0" err="1">
                <a:latin typeface="Times New Roman" panose="02020603050405020304" pitchFamily="18" charset="0"/>
              </a:rPr>
              <a:t>auth</a:t>
            </a:r>
            <a:r>
              <a:rPr lang="en-GB" sz="1800" dirty="0">
                <a:latin typeface="Times New Roman" panose="02020603050405020304" pitchFamily="18" charset="0"/>
              </a:rPr>
              <a:t>; MySQL (</a:t>
            </a:r>
            <a:r>
              <a:rPr lang="en-GB" sz="1800" dirty="0" err="1">
                <a:latin typeface="Times New Roman" panose="02020603050405020304" pitchFamily="18" charset="0"/>
              </a:rPr>
              <a:t>dev</a:t>
            </a:r>
            <a:r>
              <a:rPr lang="en-GB" sz="1800" dirty="0">
                <a:latin typeface="Times New Roman" panose="02020603050405020304" pitchFamily="18" charset="0"/>
              </a:rPr>
              <a:t>) / </a:t>
            </a:r>
            <a:r>
              <a:rPr lang="en-GB" sz="1800" dirty="0" err="1">
                <a:latin typeface="Times New Roman" panose="02020603050405020304" pitchFamily="18" charset="0"/>
              </a:rPr>
              <a:t>PostgreSQL</a:t>
            </a:r>
            <a:r>
              <a:rPr lang="en-GB" sz="1800" dirty="0">
                <a:latin typeface="Times New Roman" panose="02020603050405020304" pitchFamily="18" charset="0"/>
              </a:rPr>
              <a:t> (production)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GB" sz="1800" b="1" dirty="0" smtClean="0">
                <a:latin typeface="Times New Roman" panose="02020603050405020304" pitchFamily="18" charset="0"/>
              </a:rPr>
              <a:t>AI </a:t>
            </a:r>
            <a:r>
              <a:rPr lang="en-GB" sz="1800" b="1" dirty="0">
                <a:latin typeface="Times New Roman" panose="02020603050405020304" pitchFamily="18" charset="0"/>
              </a:rPr>
              <a:t>and Detection Module</a:t>
            </a:r>
          </a:p>
          <a:p>
            <a:pPr marL="342900"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</a:rPr>
              <a:t>YOLOv11 (</a:t>
            </a:r>
            <a:r>
              <a:rPr lang="en-GB" sz="1800" dirty="0" err="1">
                <a:latin typeface="Times New Roman" panose="02020603050405020304" pitchFamily="18" charset="0"/>
              </a:rPr>
              <a:t>Ultralytics</a:t>
            </a:r>
            <a:r>
              <a:rPr lang="en-GB" sz="1800" dirty="0">
                <a:latin typeface="Times New Roman" panose="02020603050405020304" pitchFamily="18" charset="0"/>
              </a:rPr>
              <a:t>): Vehicle and plate detection; Adam optimizer, </a:t>
            </a:r>
            <a:r>
              <a:rPr lang="en-GB" sz="1800" dirty="0" smtClean="0">
                <a:latin typeface="Times New Roman" panose="02020603050405020304" pitchFamily="18" charset="0"/>
              </a:rPr>
              <a:t>50 </a:t>
            </a:r>
            <a:r>
              <a:rPr lang="en-GB" sz="1800" dirty="0">
                <a:latin typeface="Times New Roman" panose="02020603050405020304" pitchFamily="18" charset="0"/>
              </a:rPr>
              <a:t>epochs, 80:20 </a:t>
            </a:r>
            <a:r>
              <a:rPr lang="en-GB" sz="1800" dirty="0" smtClean="0">
                <a:latin typeface="Times New Roman" panose="02020603050405020304" pitchFamily="18" charset="0"/>
              </a:rPr>
              <a:t>split</a:t>
            </a:r>
            <a:endParaRPr lang="en-GB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Summary[1/2]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marL="342900">
              <a:lnSpc>
                <a:spcPct val="150000"/>
              </a:lnSpc>
            </a:pPr>
            <a:r>
              <a:rPr lang="en-GB" sz="1800" dirty="0" err="1">
                <a:latin typeface="Times New Roman" panose="02020603050405020304" pitchFamily="18" charset="0"/>
              </a:rPr>
              <a:t>EasyOCR</a:t>
            </a:r>
            <a:r>
              <a:rPr lang="en-GB" sz="1800" dirty="0">
                <a:latin typeface="Times New Roman" panose="02020603050405020304" pitchFamily="18" charset="0"/>
              </a:rPr>
              <a:t> + </a:t>
            </a:r>
            <a:r>
              <a:rPr lang="en-GB" sz="1800" dirty="0" err="1">
                <a:latin typeface="Times New Roman" panose="02020603050405020304" pitchFamily="18" charset="0"/>
              </a:rPr>
              <a:t>Tesseract</a:t>
            </a:r>
            <a:r>
              <a:rPr lang="en-GB" sz="1800" dirty="0">
                <a:latin typeface="Times New Roman" panose="02020603050405020304" pitchFamily="18" charset="0"/>
              </a:rPr>
              <a:t>: Hybrid OCR with confidence-based voting; </a:t>
            </a:r>
            <a:r>
              <a:rPr lang="en-GB" sz="1800" dirty="0" err="1">
                <a:latin typeface="Times New Roman" panose="02020603050405020304" pitchFamily="18" charset="0"/>
              </a:rPr>
              <a:t>OpenCV</a:t>
            </a:r>
            <a:r>
              <a:rPr lang="en-GB" sz="1800" dirty="0">
                <a:latin typeface="Times New Roman" panose="02020603050405020304" pitchFamily="18" charset="0"/>
              </a:rPr>
              <a:t> for </a:t>
            </a:r>
            <a:r>
              <a:rPr lang="en-GB" sz="1800" dirty="0" err="1">
                <a:latin typeface="Times New Roman" panose="02020603050405020304" pitchFamily="18" charset="0"/>
              </a:rPr>
              <a:t>preprocessing</a:t>
            </a:r>
            <a:endParaRPr lang="en-GB" sz="1800" dirty="0">
              <a:latin typeface="Times New Roman" panose="02020603050405020304" pitchFamily="18" charset="0"/>
            </a:endParaRPr>
          </a:p>
          <a:p>
            <a:pPr marL="342900"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</a:rPr>
              <a:t>Post-processing: Text normalized to uppercase alphanumeric before database lookup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GB" sz="1800" b="1" dirty="0" smtClean="0">
                <a:latin typeface="Times New Roman" panose="02020603050405020304" pitchFamily="18" charset="0"/>
              </a:rPr>
              <a:t>Frontend </a:t>
            </a:r>
            <a:r>
              <a:rPr lang="en-GB" sz="1800" b="1" dirty="0">
                <a:latin typeface="Times New Roman" panose="02020603050405020304" pitchFamily="18" charset="0"/>
              </a:rPr>
              <a:t>and Mobile</a:t>
            </a:r>
          </a:p>
          <a:p>
            <a:pPr marL="342900"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</a:rPr>
              <a:t>React.js + Tailwind CSS + </a:t>
            </a:r>
            <a:r>
              <a:rPr lang="en-GB" sz="1800" dirty="0" err="1">
                <a:latin typeface="Times New Roman" panose="02020603050405020304" pitchFamily="18" charset="0"/>
              </a:rPr>
              <a:t>Vite</a:t>
            </a:r>
            <a:r>
              <a:rPr lang="en-GB" sz="1800" dirty="0">
                <a:latin typeface="Times New Roman" panose="02020603050405020304" pitchFamily="18" charset="0"/>
              </a:rPr>
              <a:t>: Responsive web dashboard with </a:t>
            </a:r>
            <a:r>
              <a:rPr lang="en-GB" sz="1800" dirty="0" err="1">
                <a:latin typeface="Times New Roman" panose="02020603050405020304" pitchFamily="18" charset="0"/>
              </a:rPr>
              <a:t>WebSocket</a:t>
            </a:r>
            <a:r>
              <a:rPr lang="en-GB" sz="1800" dirty="0">
                <a:latin typeface="Times New Roman" panose="02020603050405020304" pitchFamily="18" charset="0"/>
              </a:rPr>
              <a:t> live updates, dark mode</a:t>
            </a:r>
          </a:p>
          <a:p>
            <a:pPr marL="342900"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</a:rPr>
              <a:t>Flutter + </a:t>
            </a:r>
            <a:r>
              <a:rPr lang="en-GB" sz="1800" dirty="0" err="1">
                <a:latin typeface="Times New Roman" panose="02020603050405020304" pitchFamily="18" charset="0"/>
              </a:rPr>
              <a:t>WebSockets</a:t>
            </a:r>
            <a:r>
              <a:rPr lang="en-GB" sz="1800" dirty="0">
                <a:latin typeface="Times New Roman" panose="02020603050405020304" pitchFamily="18" charset="0"/>
              </a:rPr>
              <a:t>: Track Vision mobile app for field scanning, alerts, and complaint management</a:t>
            </a:r>
          </a:p>
          <a:p>
            <a:pPr marL="342900"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</a:rPr>
              <a:t>Tools: Visual Studio Code, MySQL, Git for version control and collaboration</a:t>
            </a:r>
            <a:endParaRPr lang="en-GB" sz="1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058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C20C53-AA21-809A-BBD4-F324A6B8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and Results Summary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013A843-62EA-E47E-8852-8A07452A5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53398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Testing Summary</a:t>
            </a:r>
            <a:endParaRPr dirty="0"/>
          </a:p>
        </p:txBody>
      </p:sp>
      <p:sp>
        <p:nvSpPr>
          <p:cNvPr id="176" name="Google Shape;176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AND OUTLOOK</a:t>
            </a:r>
            <a:endParaRPr/>
          </a:p>
        </p:txBody>
      </p:sp>
      <p:sp>
        <p:nvSpPr>
          <p:cNvPr id="182" name="Google Shape;182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&amp; Outlook</a:t>
            </a:r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1093</Words>
  <Application>Microsoft Office PowerPoint</Application>
  <PresentationFormat>On-screen Show (4:3)</PresentationFormat>
  <Paragraphs>174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Office Theme</vt:lpstr>
      <vt:lpstr>Final Year Project</vt:lpstr>
      <vt:lpstr>Project Team</vt:lpstr>
      <vt:lpstr>Table of Content</vt:lpstr>
      <vt:lpstr>BACKGROUND AND INTRODUCTION</vt:lpstr>
      <vt:lpstr>Background and Introduction</vt:lpstr>
      <vt:lpstr>PowerPoint Presentation</vt:lpstr>
      <vt:lpstr>Literature Review</vt:lpstr>
      <vt:lpstr>Literature Review and Summary Table [1/2]</vt:lpstr>
      <vt:lpstr>Literature Review and Summary Table [2/2]</vt:lpstr>
      <vt:lpstr>PROBLEM STATEMENT</vt:lpstr>
      <vt:lpstr>Problem Statement</vt:lpstr>
      <vt:lpstr>ENDEAVOUR</vt:lpstr>
      <vt:lpstr>Endeavour</vt:lpstr>
      <vt:lpstr>PowerPoint Presentation</vt:lpstr>
      <vt:lpstr>PROPOSED SOLUTION</vt:lpstr>
      <vt:lpstr>Proposed Solution</vt:lpstr>
      <vt:lpstr>Requirements Summary[1/2]</vt:lpstr>
      <vt:lpstr>Requirements Summary[1/2]</vt:lpstr>
      <vt:lpstr>Design Summary</vt:lpstr>
      <vt:lpstr>Methodology</vt:lpstr>
      <vt:lpstr>Implementation Summary[1/2]</vt:lpstr>
      <vt:lpstr>Implementation Summary[1/2]</vt:lpstr>
      <vt:lpstr>Experiments and Results Summary</vt:lpstr>
      <vt:lpstr>Testing Summary</vt:lpstr>
      <vt:lpstr>CONCLUSION AND OUTLOOK</vt:lpstr>
      <vt:lpstr>Conclusion &amp; Outlook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</dc:title>
  <dc:creator>Khan</dc:creator>
  <cp:lastModifiedBy>Microsoft account</cp:lastModifiedBy>
  <cp:revision>18</cp:revision>
  <dcterms:created xsi:type="dcterms:W3CDTF">2013-01-22T07:04:44Z</dcterms:created>
  <dcterms:modified xsi:type="dcterms:W3CDTF">2026-04-23T09:58:41Z</dcterms:modified>
</cp:coreProperties>
</file>